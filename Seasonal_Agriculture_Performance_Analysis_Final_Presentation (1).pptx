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3" d="100"/>
          <a:sy n="73" d="100"/>
        </p:scale>
        <p:origin x="534"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45542" y="3799040"/>
            <a:ext cx="7566938" cy="861497"/>
          </a:xfrm>
        </p:spPr>
        <p:txBody>
          <a:bodyPr vert="horz" lIns="91440" tIns="45720" rIns="91440" bIns="45720" rtlCol="0" anchor="t">
            <a:normAutofit fontScale="85000" lnSpcReduction="20000"/>
          </a:bodyPr>
          <a:lstStyle/>
          <a:p>
            <a:r>
              <a:rPr lang="en-US" dirty="0" smtClean="0"/>
              <a:t>Siddhi Mahesh </a:t>
            </a:r>
            <a:r>
              <a:rPr lang="en-US" dirty="0" err="1" smtClean="0"/>
              <a:t>Chavan</a:t>
            </a:r>
            <a:endParaRPr dirty="0"/>
          </a:p>
          <a:p>
            <a:r>
              <a:rPr lang="en-US" dirty="0" err="1" smtClean="0"/>
              <a:t>Yashaswi</a:t>
            </a:r>
            <a:r>
              <a:rPr lang="en-US" dirty="0" smtClean="0"/>
              <a:t> Education Society’s, International Institute of Management and Science, Pune</a:t>
            </a:r>
            <a:endParaRPr dirty="0"/>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23234" y="4804079"/>
            <a:ext cx="5691588" cy="369332"/>
          </a:xfrm>
          <a:prstGeom prst="rect">
            <a:avLst/>
          </a:prstGeom>
          <a:noFill/>
        </p:spPr>
        <p:txBody>
          <a:bodyPr wrap="square" rtlCol="0">
            <a:spAutoFit/>
          </a:bodyPr>
          <a:lstStyle/>
          <a:p>
            <a:r>
              <a:rPr lang="en-US" b="1" dirty="0"/>
              <a:t>AICTE STU ID </a:t>
            </a:r>
            <a:r>
              <a:rPr lang="en-US" b="1" dirty="0"/>
              <a:t>:STU673754138b1451731679251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00000"/>
              </a:lnSpc>
              <a:defRPr sz="1800" b="0"/>
            </a:pPr>
            <a:r>
              <a:t>Agricultural performance is influenced by seasonal environmental conditions, farming practices, resource availability and market conditions. This project analyzes the supplied agricultural dataset to identify seasonal differences in yield, production, resource use, risk and economic performance, and to derive evidence-based planning insights.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pPr>
              <a:defRPr sz="1800" b="0"/>
            </a:pPr>
            <a:r>
              <a:t>Project Description</a:t>
            </a:r>
            <a:br/>
            <a:r>
              <a:t>The project analyzes 4,000 agricultural records across 3 seasons, 8 states, 8 crops and 4 irrigation methods. The workflow covers data inspection, missing-value treatment, exploratory analysis, seasonal comparison, crop-season analysis, irrigation/resource analysis, regional comparison, statistical testing and evidence-based recommendations.</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20008" y="1970564"/>
            <a:ext cx="7955279" cy="4206240"/>
          </a:xfrm>
          <a:prstGeom prst="rect">
            <a:avLst/>
          </a:prstGeom>
          <a:noFill/>
        </p:spPr>
        <p:txBody>
          <a:bodyPr wrap="square">
            <a:spAutoFit/>
          </a:bodyPr>
          <a:lstStyle/>
          <a:p>
            <a:pPr>
              <a:defRPr sz="2000" b="0"/>
            </a:pPr>
            <a:r>
              <a:rPr dirty="0"/>
              <a:t>• Farmers and farm managers – seasonal crop and resource planning</a:t>
            </a:r>
            <a:br>
              <a:rPr dirty="0"/>
            </a:br>
            <a:r>
              <a:rPr dirty="0"/>
              <a:t>• Agricultural analysts – performance and trend analysis</a:t>
            </a:r>
            <a:br>
              <a:rPr dirty="0"/>
            </a:br>
            <a:r>
              <a:rPr dirty="0"/>
              <a:t>• Agricultural planners/policymakers – regional and seasonal </a:t>
            </a:r>
            <a:r>
              <a:rPr dirty="0" smtClean="0"/>
              <a:t>planning</a:t>
            </a:r>
            <a:r>
              <a:rPr dirty="0"/>
              <a:t/>
            </a:r>
            <a:br>
              <a:rPr dirty="0"/>
            </a:br>
            <a:r>
              <a:rPr dirty="0"/>
              <a:t>• Agri-businesses – production and market strategy</a:t>
            </a:r>
            <a:br>
              <a:rPr dirty="0"/>
            </a:br>
            <a:r>
              <a:rPr dirty="0"/>
              <a:t>• Resource managers – water and input-use assessment</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660399" y="1419377"/>
            <a:ext cx="8046720" cy="4389120"/>
          </a:xfrm>
          <a:prstGeom prst="rect">
            <a:avLst/>
          </a:prstGeom>
          <a:noFill/>
        </p:spPr>
        <p:txBody>
          <a:bodyPr wrap="square">
            <a:spAutoFit/>
          </a:bodyPr>
          <a:lstStyle/>
          <a:p>
            <a:pPr>
              <a:defRPr sz="2200" b="0"/>
            </a:pPr>
            <a:r>
              <a:rPr dirty="0"/>
              <a:t>• Python</a:t>
            </a:r>
            <a:br>
              <a:rPr dirty="0"/>
            </a:br>
            <a:r>
              <a:rPr dirty="0"/>
              <a:t>• Pandas and </a:t>
            </a:r>
            <a:r>
              <a:rPr dirty="0" err="1"/>
              <a:t>NumPy</a:t>
            </a:r>
            <a:r>
              <a:rPr dirty="0"/>
              <a:t> – data cleaning and analysis</a:t>
            </a:r>
            <a:br>
              <a:rPr dirty="0"/>
            </a:br>
            <a:r>
              <a:rPr dirty="0"/>
              <a:t>• </a:t>
            </a:r>
            <a:r>
              <a:rPr dirty="0" err="1"/>
              <a:t>Matplotlib</a:t>
            </a:r>
            <a:r>
              <a:rPr dirty="0"/>
              <a:t> – data visualization</a:t>
            </a:r>
            <a:br>
              <a:rPr dirty="0"/>
            </a:br>
            <a:r>
              <a:rPr dirty="0"/>
              <a:t>• </a:t>
            </a:r>
            <a:r>
              <a:rPr dirty="0" err="1"/>
              <a:t>SciPy</a:t>
            </a:r>
            <a:r>
              <a:rPr dirty="0"/>
              <a:t> – statistical testing</a:t>
            </a:r>
            <a:br>
              <a:rPr dirty="0"/>
            </a:br>
            <a:r>
              <a:rPr dirty="0"/>
              <a:t>• </a:t>
            </a:r>
            <a:r>
              <a:rPr dirty="0" err="1"/>
              <a:t>Jupyter</a:t>
            </a:r>
            <a:r>
              <a:rPr dirty="0"/>
              <a:t> Notebook – analysis documentation</a:t>
            </a:r>
            <a:br>
              <a:rPr dirty="0"/>
            </a:br>
            <a:r>
              <a:rPr dirty="0"/>
              <a:t>• PowerPoint – project presentation</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731520" y="1325880"/>
            <a:ext cx="3840480" cy="4389120"/>
          </a:xfrm>
          <a:prstGeom prst="rect">
            <a:avLst/>
          </a:prstGeom>
          <a:noFill/>
        </p:spPr>
        <p:txBody>
          <a:bodyPr wrap="square">
            <a:spAutoFit/>
          </a:bodyPr>
          <a:lstStyle/>
          <a:p>
            <a:pPr>
              <a:defRPr sz="1600" b="0"/>
            </a:pPr>
            <a:r>
              <a:t>Dataset: 4,000 rows × 28 columns</a:t>
            </a:r>
            <a:br/>
            <a:r>
              <a:t/>
            </a:r>
            <a:br/>
            <a:r>
              <a:t>Seasons: Kharif 1,779 | Rabi 1,627 | Zaid 594</a:t>
            </a:r>
            <a:br/>
            <a:r>
              <a:t/>
            </a:r>
            <a:br/>
            <a:r>
              <a:t>Missing values handled: Rainfall 48, Soil Moisture 40, Yield 32</a:t>
            </a:r>
            <a:br/>
            <a:r>
              <a:t/>
            </a:r>
            <a:br/>
            <a:r>
              <a:t>Best overall season: Kharif</a:t>
            </a:r>
            <a:br/>
            <a:r>
              <a:t>Avg yield: 5.63 t/ha</a:t>
            </a:r>
            <a:br/>
            <a:r>
              <a:t>Avg profit: ₹178,915</a:t>
            </a:r>
            <a:br/>
            <a:r>
              <a:t>Profitable farms: 57.79%</a:t>
            </a:r>
          </a:p>
        </p:txBody>
      </p:sp>
      <p:pic>
        <p:nvPicPr>
          <p:cNvPr id="25" name="Picture 24" descr="chart_01_seasonal_performance.png"/>
          <p:cNvPicPr>
            <a:picLocks noChangeAspect="1"/>
          </p:cNvPicPr>
          <p:nvPr/>
        </p:nvPicPr>
        <p:blipFill>
          <a:blip r:embed="rId3"/>
          <a:stretch>
            <a:fillRect/>
          </a:stretch>
        </p:blipFill>
        <p:spPr>
          <a:xfrm>
            <a:off x="4572000" y="1234440"/>
            <a:ext cx="6858000" cy="381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fontScale="90000"/>
          </a:bodyPr>
          <a:lstStyle/>
          <a:p>
            <a:pPr>
              <a:defRPr sz="2600" b="1"/>
            </a:pPr>
            <a:r>
              <a:t>RESULTS – Data Preparation</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endParaRPr/>
          </a:p>
        </p:txBody>
      </p:sp>
      <p:pic>
        <p:nvPicPr>
          <p:cNvPr id="31" name="Picture 30" descr="code_1.png"/>
          <p:cNvPicPr>
            <a:picLocks noChangeAspect="1"/>
          </p:cNvPicPr>
          <p:nvPr/>
        </p:nvPicPr>
        <p:blipFill>
          <a:blip r:embed="rId3"/>
          <a:stretch>
            <a:fillRect/>
          </a:stretch>
        </p:blipFill>
        <p:spPr>
          <a:xfrm>
            <a:off x="685799" y="1417320"/>
            <a:ext cx="9236354" cy="4408714"/>
          </a:xfrm>
          <a:prstGeom prst="rect">
            <a:avLst/>
          </a:prstGeom>
        </p:spPr>
      </p:pic>
      <p:sp>
        <p:nvSpPr>
          <p:cNvPr id="32" name="TextBox 31"/>
          <p:cNvSpPr txBox="1"/>
          <p:nvPr/>
        </p:nvSpPr>
        <p:spPr>
          <a:xfrm>
            <a:off x="807164" y="3835935"/>
            <a:ext cx="4572000" cy="4389120"/>
          </a:xfrm>
          <a:prstGeom prst="rect">
            <a:avLst/>
          </a:prstGeom>
          <a:noFill/>
        </p:spPr>
        <p:txBody>
          <a:bodyPr wrap="square">
            <a:spAutoFit/>
          </a:bodyPr>
          <a:lstStyle/>
          <a:p>
            <a:pPr>
              <a:defRPr sz="1600" b="0"/>
            </a:pPr>
            <a:r>
              <a:rPr dirty="0"/>
              <a:t>Data quality findings</a:t>
            </a:r>
            <a:br>
              <a:rPr dirty="0"/>
            </a:br>
            <a:r>
              <a:rPr dirty="0"/>
              <a:t>• 4,000 observations and 28 variables</a:t>
            </a:r>
            <a:br>
              <a:rPr dirty="0"/>
            </a:br>
            <a:r>
              <a:rPr dirty="0"/>
              <a:t>• 0 duplicate rows</a:t>
            </a:r>
            <a:br>
              <a:rPr dirty="0"/>
            </a:br>
            <a:r>
              <a:rPr dirty="0"/>
              <a:t>• No negative values in core numeric measures</a:t>
            </a:r>
            <a:br>
              <a:rPr dirty="0"/>
            </a:br>
            <a:r>
              <a:rPr dirty="0"/>
              <a:t>• Missing values occurred in 3 variables</a:t>
            </a:r>
            <a:br>
              <a:rPr dirty="0"/>
            </a:br>
            <a:r>
              <a:rPr dirty="0"/>
              <a:t>• Imputation preserved seasonal/crop context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fontScale="90000"/>
          </a:bodyPr>
          <a:lstStyle/>
          <a:p>
            <a:pPr>
              <a:defRPr sz="2600" b="1"/>
            </a:pPr>
            <a:r>
              <a:t>RESULTS – Seasonal &amp; Crop Analysis</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endParaRPr/>
          </a:p>
        </p:txBody>
      </p:sp>
      <p:pic>
        <p:nvPicPr>
          <p:cNvPr id="31" name="Picture 30" descr="chart_02_profit_by_season.png"/>
          <p:cNvPicPr>
            <a:picLocks noChangeAspect="1"/>
          </p:cNvPicPr>
          <p:nvPr/>
        </p:nvPicPr>
        <p:blipFill>
          <a:blip r:embed="rId3"/>
          <a:stretch>
            <a:fillRect/>
          </a:stretch>
        </p:blipFill>
        <p:spPr>
          <a:xfrm>
            <a:off x="594360" y="1325880"/>
            <a:ext cx="5303520" cy="2946400"/>
          </a:xfrm>
          <a:prstGeom prst="rect">
            <a:avLst/>
          </a:prstGeom>
        </p:spPr>
      </p:pic>
      <p:pic>
        <p:nvPicPr>
          <p:cNvPr id="32" name="Picture 31" descr="chart_03_crop_season_yield.png"/>
          <p:cNvPicPr>
            <a:picLocks noChangeAspect="1"/>
          </p:cNvPicPr>
          <p:nvPr/>
        </p:nvPicPr>
        <p:blipFill>
          <a:blip r:embed="rId4"/>
          <a:stretch>
            <a:fillRect/>
          </a:stretch>
        </p:blipFill>
        <p:spPr>
          <a:xfrm>
            <a:off x="5989320" y="1325880"/>
            <a:ext cx="5394960" cy="3506724"/>
          </a:xfrm>
          <a:prstGeom prst="rect">
            <a:avLst/>
          </a:prstGeom>
        </p:spPr>
      </p:pic>
      <p:sp>
        <p:nvSpPr>
          <p:cNvPr id="33" name="TextBox 32"/>
          <p:cNvSpPr txBox="1"/>
          <p:nvPr/>
        </p:nvSpPr>
        <p:spPr>
          <a:xfrm>
            <a:off x="822960" y="5166360"/>
            <a:ext cx="10515600" cy="640080"/>
          </a:xfrm>
          <a:prstGeom prst="rect">
            <a:avLst/>
          </a:prstGeom>
          <a:noFill/>
        </p:spPr>
        <p:txBody>
          <a:bodyPr wrap="square">
            <a:spAutoFit/>
          </a:bodyPr>
          <a:lstStyle/>
          <a:p>
            <a:pPr>
              <a:defRPr sz="1400" b="1"/>
            </a:pPr>
            <a:r>
              <a:t>Kharif leads overall profitability; Sugarcane and Chilli are the strongest economic performers.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fontScale="90000"/>
          </a:bodyPr>
          <a:lstStyle/>
          <a:p>
            <a:pPr>
              <a:defRPr sz="2600" b="1"/>
            </a:pPr>
            <a:r>
              <a:t>RESULTS – Resources &amp; Regional Analysis</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hart_04_irrigation_efficiency.png"/>
          <p:cNvPicPr>
            <a:picLocks noChangeAspect="1"/>
          </p:cNvPicPr>
          <p:nvPr/>
        </p:nvPicPr>
        <p:blipFill>
          <a:blip r:embed="rId3"/>
          <a:stretch>
            <a:fillRect/>
          </a:stretch>
        </p:blipFill>
        <p:spPr>
          <a:xfrm>
            <a:off x="138180" y="1584203"/>
            <a:ext cx="5361803" cy="2978779"/>
          </a:xfrm>
          <a:prstGeom prst="rect">
            <a:avLst/>
          </a:prstGeom>
        </p:spPr>
      </p:pic>
      <p:pic>
        <p:nvPicPr>
          <p:cNvPr id="32" name="Picture 31" descr="chart_05_state_profit.png"/>
          <p:cNvPicPr>
            <a:picLocks noChangeAspect="1"/>
          </p:cNvPicPr>
          <p:nvPr/>
        </p:nvPicPr>
        <p:blipFill>
          <a:blip r:embed="rId4"/>
          <a:stretch>
            <a:fillRect/>
          </a:stretch>
        </p:blipFill>
        <p:spPr>
          <a:xfrm>
            <a:off x="5907144" y="1275371"/>
            <a:ext cx="5849427" cy="3784923"/>
          </a:xfrm>
          <a:prstGeom prst="rect">
            <a:avLst/>
          </a:prstGeom>
        </p:spPr>
      </p:pic>
      <p:sp>
        <p:nvSpPr>
          <p:cNvPr id="33" name="TextBox 32"/>
          <p:cNvSpPr txBox="1"/>
          <p:nvPr/>
        </p:nvSpPr>
        <p:spPr>
          <a:xfrm>
            <a:off x="822960" y="5166360"/>
            <a:ext cx="10515600" cy="640080"/>
          </a:xfrm>
          <a:prstGeom prst="rect">
            <a:avLst/>
          </a:prstGeom>
          <a:noFill/>
        </p:spPr>
        <p:txBody>
          <a:bodyPr wrap="square">
            <a:spAutoFit/>
          </a:bodyPr>
          <a:lstStyle/>
          <a:p>
            <a:pPr>
              <a:defRPr sz="1400" b="1"/>
            </a:pPr>
            <a:r>
              <a:t>Drip performs strongly for yield in Kharif/Rabi; regional results show that seasonal strategies should be localized.</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fontScale="90000"/>
          </a:bodyPr>
          <a:lstStyle/>
          <a:p>
            <a:pPr>
              <a:defRPr sz="2600" b="1"/>
            </a:pPr>
            <a:r>
              <a:t>RESULTS – Statistical Findings &amp; Recommendations</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hart_06_correlation.png"/>
          <p:cNvPicPr>
            <a:picLocks noChangeAspect="1"/>
          </p:cNvPicPr>
          <p:nvPr/>
        </p:nvPicPr>
        <p:blipFill>
          <a:blip r:embed="rId3"/>
          <a:stretch>
            <a:fillRect/>
          </a:stretch>
        </p:blipFill>
        <p:spPr>
          <a:xfrm>
            <a:off x="348194" y="1796143"/>
            <a:ext cx="5669280" cy="4409440"/>
          </a:xfrm>
          <a:prstGeom prst="rect">
            <a:avLst/>
          </a:prstGeom>
        </p:spPr>
      </p:pic>
      <p:sp>
        <p:nvSpPr>
          <p:cNvPr id="32" name="TextBox 31"/>
          <p:cNvSpPr txBox="1"/>
          <p:nvPr/>
        </p:nvSpPr>
        <p:spPr>
          <a:xfrm>
            <a:off x="6054863" y="2174240"/>
            <a:ext cx="4846320" cy="4297680"/>
          </a:xfrm>
          <a:prstGeom prst="rect">
            <a:avLst/>
          </a:prstGeom>
          <a:noFill/>
        </p:spPr>
        <p:txBody>
          <a:bodyPr wrap="square">
            <a:spAutoFit/>
          </a:bodyPr>
          <a:lstStyle/>
          <a:p>
            <a:pPr>
              <a:defRPr sz="1500" b="0"/>
            </a:pPr>
            <a:r>
              <a:rPr dirty="0"/>
              <a:t>Statistical evidence</a:t>
            </a:r>
            <a:br>
              <a:rPr dirty="0"/>
            </a:br>
            <a:r>
              <a:rPr dirty="0"/>
              <a:t>• </a:t>
            </a:r>
            <a:r>
              <a:rPr dirty="0" err="1"/>
              <a:t>Kruskal</a:t>
            </a:r>
            <a:r>
              <a:rPr dirty="0"/>
              <a:t>–Wallis: season differences are significant for yield, profit, water efficiency and disease risk (all p &lt; 0.001).</a:t>
            </a:r>
            <a:br>
              <a:rPr dirty="0"/>
            </a:br>
            <a:r>
              <a:rPr dirty="0"/>
              <a:t>• Chi-square: profitability status is associated with season (p &lt; 0.001).</a:t>
            </a:r>
            <a:br>
              <a:rPr dirty="0"/>
            </a:br>
            <a:r>
              <a:rPr dirty="0"/>
              <a:t/>
            </a:r>
            <a:br>
              <a:rPr dirty="0"/>
            </a:br>
            <a:r>
              <a:rPr dirty="0"/>
              <a:t>Recommendations</a:t>
            </a:r>
            <a:br>
              <a:rPr dirty="0"/>
            </a:br>
            <a:r>
              <a:rPr dirty="0"/>
              <a:t>• Prioritize </a:t>
            </a:r>
            <a:r>
              <a:rPr dirty="0" err="1"/>
              <a:t>Kharif</a:t>
            </a:r>
            <a:r>
              <a:rPr dirty="0"/>
              <a:t> where feasible</a:t>
            </a:r>
            <a:br>
              <a:rPr dirty="0"/>
            </a:br>
            <a:r>
              <a:rPr dirty="0"/>
              <a:t>• Evaluate crop-season combinations</a:t>
            </a:r>
            <a:br>
              <a:rPr dirty="0"/>
            </a:br>
            <a:r>
              <a:rPr dirty="0"/>
              <a:t>• Monitor Zaid economics</a:t>
            </a:r>
            <a:br>
              <a:rPr dirty="0"/>
            </a:br>
            <a:r>
              <a:rPr dirty="0"/>
              <a:t>• Use irrigation strategically</a:t>
            </a:r>
            <a:br>
              <a:rPr dirty="0"/>
            </a:br>
            <a:r>
              <a:rPr dirty="0"/>
              <a:t>• Integrate pest/climate monitoring</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22960" y="1417320"/>
            <a:ext cx="9875520" cy="4572000"/>
          </a:xfrm>
          <a:prstGeom prst="rect">
            <a:avLst/>
          </a:prstGeom>
          <a:noFill/>
        </p:spPr>
        <p:txBody>
          <a:bodyPr wrap="square">
            <a:spAutoFit/>
          </a:bodyPr>
          <a:lstStyle/>
          <a:p>
            <a:pPr>
              <a:defRPr sz="2000" b="0"/>
            </a:pPr>
            <a:r>
              <a:t>• Develop predictive models for yield and profit</a:t>
            </a:r>
            <a:br/>
            <a:r>
              <a:t>• Add multi-year historical data</a:t>
            </a:r>
            <a:br/>
            <a:r>
              <a:t>• Incorporate market-price and input-cost forecasts</a:t>
            </a:r>
            <a:br/>
            <a:r>
              <a:t>• Build an interactive farmer/planner dashboard</a:t>
            </a:r>
            <a:br/>
            <a:r>
              <a:t>• Simulate rainfall and irrigation scenarios</a:t>
            </a:r>
            <a:br/>
            <a:r>
              <a:t>• Integrate satellite, soil and weather data</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979666"/>
            <a:ext cx="4735798" cy="221920"/>
          </a:xfrm>
        </p:spPr>
        <p:txBody>
          <a:bodyPr>
            <a:normAutofit fontScale="90000"/>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2237154"/>
            <a:ext cx="7232875" cy="923330"/>
          </a:xfrm>
          <a:prstGeom prst="rect">
            <a:avLst/>
          </a:prstGeom>
          <a:noFill/>
        </p:spPr>
        <p:txBody>
          <a:bodyPr wrap="square">
            <a:spAutoFit/>
          </a:bodyPr>
          <a:lstStyle/>
          <a:p>
            <a:pPr>
              <a:defRPr sz="1800" b="0"/>
            </a:pPr>
            <a:r>
              <a:rPr dirty="0"/>
              <a:t>GitHub Link</a:t>
            </a:r>
            <a:br>
              <a:rPr dirty="0"/>
            </a:br>
            <a:r>
              <a:rPr lang="en-IN" dirty="0"/>
              <a:t>https://github.com/siddhichavan0105-svg/seasonal-agriculture-performance-analysis</a:t>
            </a:r>
            <a:endParaRPr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82900" y="1416931"/>
            <a:ext cx="9601200" cy="1015663"/>
          </a:xfrm>
          <a:prstGeom prst="rect">
            <a:avLst/>
          </a:prstGeom>
          <a:noFill/>
        </p:spPr>
        <p:txBody>
          <a:bodyPr wrap="square">
            <a:spAutoFit/>
          </a:bodyPr>
          <a:lstStyle/>
          <a:p>
            <a:pPr>
              <a:defRPr sz="2000" b="0"/>
            </a:pPr>
            <a:r>
              <a:rPr dirty="0"/>
              <a:t>VOIS Course completion certificate</a:t>
            </a:r>
            <a:br>
              <a:rPr dirty="0"/>
            </a:br>
            <a:r>
              <a:rPr dirty="0"/>
              <a:t>Course: Data Visualization</a:t>
            </a:r>
            <a:br>
              <a:rPr dirty="0"/>
            </a:b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533" y="2301732"/>
            <a:ext cx="6439722" cy="455626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425388" y="1970791"/>
            <a:ext cx="7879978" cy="1875068"/>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1378</TotalTime>
  <Words>193</Words>
  <Application>Microsoft Office PowerPoint</Application>
  <PresentationFormat>Widescreen</PresentationFormat>
  <Paragraphs>31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The project analyzes 4,000 agricultural records across 3 seasons, 8 states, 8 crops and 4 irrigation methods. The workflow covers data inspection, missing-value treatment, exploratory analysis, seasonal comparison, crop-season analysis, irrigation/resource analysis, regional comparison, statistical testing and evidence-based recommendations.</vt:lpstr>
      <vt:lpstr>WHO ARE THE END USERS?</vt:lpstr>
      <vt:lpstr>Technology Used</vt:lpstr>
      <vt:lpstr>RESULTS </vt:lpstr>
      <vt:lpstr>RESULTS – Data Preparation</vt:lpstr>
      <vt:lpstr>RESULTS – Seasonal &amp; Crop Analysis</vt:lpstr>
      <vt:lpstr>RESULTS – Resources &amp; Regional Analysis</vt:lpstr>
      <vt:lpstr>RESULTS – Statistical Findings &amp; Recommendations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siddhii</cp:lastModifiedBy>
  <cp:revision>102</cp:revision>
  <dcterms:created xsi:type="dcterms:W3CDTF">2021-07-11T13:13:15Z</dcterms:created>
  <dcterms:modified xsi:type="dcterms:W3CDTF">2026-09-15T17:47:27Z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